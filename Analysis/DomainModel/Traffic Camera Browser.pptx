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DM Sans Medium"/>
      <p:regular r:id="rId18"/>
      <p:bold r:id="rId19"/>
      <p:italic r:id="rId20"/>
      <p:boldItalic r:id="rId21"/>
    </p:embeddedFont>
    <p:embeddedFont>
      <p:font typeface="Merriweather"/>
      <p:regular r:id="rId22"/>
      <p:bold r:id="rId23"/>
      <p:italic r:id="rId24"/>
      <p:boldItalic r:id="rId25"/>
    </p:embeddedFont>
    <p:embeddedFont>
      <p:font typeface="DM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Medium-italic.fntdata"/><Relationship Id="rId22" Type="http://schemas.openxmlformats.org/officeDocument/2006/relationships/font" Target="fonts/Merriweather-regular.fntdata"/><Relationship Id="rId21" Type="http://schemas.openxmlformats.org/officeDocument/2006/relationships/font" Target="fonts/DMSansMedium-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DMSans-regular.fntdata"/><Relationship Id="rId25" Type="http://schemas.openxmlformats.org/officeDocument/2006/relationships/font" Target="fonts/Merriweather-boldItalic.fntdata"/><Relationship Id="rId28" Type="http://schemas.openxmlformats.org/officeDocument/2006/relationships/font" Target="fonts/DMSans-italic.fntdata"/><Relationship Id="rId27" Type="http://schemas.openxmlformats.org/officeDocument/2006/relationships/font" Target="fonts/DM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DM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DMSansMedium-bold.fntdata"/><Relationship Id="rId18" Type="http://schemas.openxmlformats.org/officeDocument/2006/relationships/font" Target="fonts/DMSans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775265bf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775265bf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775265bf1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c775265bf1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775265bf1_1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c775265bf1_1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775265bf1_1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775265bf1_1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c775265bf1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c775265bf1_1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775265bf1_1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775265bf1_1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c775265bf1_1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c775265bf1_1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c775265bf1_1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c775265bf1_1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c775265bf1_1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c775265bf1_1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943bb59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943bb59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c775265bf1_1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c775265bf1_1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76" name="Shape 176"/>
        <p:cNvGrpSpPr/>
        <p:nvPr/>
      </p:nvGrpSpPr>
      <p:grpSpPr>
        <a:xfrm>
          <a:off x="0" y="0"/>
          <a:ext cx="0" cy="0"/>
          <a:chOff x="0" y="0"/>
          <a:chExt cx="0" cy="0"/>
        </a:xfrm>
      </p:grpSpPr>
      <p:sp>
        <p:nvSpPr>
          <p:cNvPr id="177" name="Google Shape;17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78" name="Google Shape;17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79" name="Google Shape;17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80" name="Google Shape;180;p35"/>
          <p:cNvSpPr/>
          <p:nvPr>
            <p:ph idx="3" type="pic"/>
          </p:nvPr>
        </p:nvSpPr>
        <p:spPr>
          <a:xfrm>
            <a:off x="4437578" y="2171250"/>
            <a:ext cx="4509600" cy="2775600"/>
          </a:xfrm>
          <a:prstGeom prst="round2DiagRect">
            <a:avLst>
              <a:gd fmla="val 16667" name="adj1"/>
              <a:gd fmla="val 0" name="adj2"/>
            </a:avLst>
          </a:prstGeom>
          <a:noFill/>
          <a:ln>
            <a:noFill/>
          </a:ln>
        </p:spPr>
      </p:sp>
      <p:sp>
        <p:nvSpPr>
          <p:cNvPr id="181" name="Google Shape;18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82" name="Shape 182"/>
        <p:cNvGrpSpPr/>
        <p:nvPr/>
      </p:nvGrpSpPr>
      <p:grpSpPr>
        <a:xfrm>
          <a:off x="0" y="0"/>
          <a:ext cx="0" cy="0"/>
          <a:chOff x="0" y="0"/>
          <a:chExt cx="0" cy="0"/>
        </a:xfrm>
      </p:grpSpPr>
      <p:sp>
        <p:nvSpPr>
          <p:cNvPr id="183" name="Google Shape;18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6" name="Google Shape;18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7" name="Google Shape;18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 name="Google Shape;18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 name="Google Shape;18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0" name="Google Shape;19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91" name="Shape 191"/>
        <p:cNvGrpSpPr/>
        <p:nvPr/>
      </p:nvGrpSpPr>
      <p:grpSpPr>
        <a:xfrm>
          <a:off x="0" y="0"/>
          <a:ext cx="0" cy="0"/>
          <a:chOff x="0" y="0"/>
          <a:chExt cx="0" cy="0"/>
        </a:xfrm>
      </p:grpSpPr>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94" name="Google Shape;19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5" name="Google Shape;19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96" name="Shape 196"/>
        <p:cNvGrpSpPr/>
        <p:nvPr/>
      </p:nvGrpSpPr>
      <p:grpSpPr>
        <a:xfrm>
          <a:off x="0" y="0"/>
          <a:ext cx="0" cy="0"/>
          <a:chOff x="0" y="0"/>
          <a:chExt cx="0" cy="0"/>
        </a:xfrm>
      </p:grpSpPr>
      <p:sp>
        <p:nvSpPr>
          <p:cNvPr id="197" name="Google Shape;19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99" name="Google Shape;19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0" name="Google Shape;20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01" name="Shape 201"/>
        <p:cNvGrpSpPr/>
        <p:nvPr/>
      </p:nvGrpSpPr>
      <p:grpSpPr>
        <a:xfrm>
          <a:off x="0" y="0"/>
          <a:ext cx="0" cy="0"/>
          <a:chOff x="0" y="0"/>
          <a:chExt cx="0" cy="0"/>
        </a:xfrm>
      </p:grpSpPr>
      <p:sp>
        <p:nvSpPr>
          <p:cNvPr id="202" name="Google Shape;20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04" name="Google Shape;20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9"/>
          <p:cNvSpPr/>
          <p:nvPr>
            <p:ph idx="2" type="pic"/>
          </p:nvPr>
        </p:nvSpPr>
        <p:spPr>
          <a:xfrm>
            <a:off x="3726325" y="669925"/>
            <a:ext cx="5220900" cy="4276800"/>
          </a:xfrm>
          <a:prstGeom prst="round2DiagRect">
            <a:avLst>
              <a:gd fmla="val 16667" name="adj1"/>
              <a:gd fmla="val 0" name="adj2"/>
            </a:avLst>
          </a:prstGeom>
          <a:noFill/>
          <a:ln>
            <a:noFill/>
          </a:ln>
        </p:spPr>
      </p:sp>
      <p:sp>
        <p:nvSpPr>
          <p:cNvPr id="206" name="Google Shape;20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07" name="Google Shape;20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08" name="Shape 208"/>
        <p:cNvGrpSpPr/>
        <p:nvPr/>
      </p:nvGrpSpPr>
      <p:grpSpPr>
        <a:xfrm>
          <a:off x="0" y="0"/>
          <a:ext cx="0" cy="0"/>
          <a:chOff x="0" y="0"/>
          <a:chExt cx="0" cy="0"/>
        </a:xfrm>
      </p:grpSpPr>
      <p:sp>
        <p:nvSpPr>
          <p:cNvPr id="209" name="Google Shape;20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10" name="Google Shape;21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11" name="Google Shape;21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p:nvPr>
            <p:ph idx="2" type="pic"/>
          </p:nvPr>
        </p:nvSpPr>
        <p:spPr>
          <a:xfrm>
            <a:off x="3726325" y="669925"/>
            <a:ext cx="5220900" cy="4276800"/>
          </a:xfrm>
          <a:prstGeom prst="round2DiagRect">
            <a:avLst>
              <a:gd fmla="val 16667" name="adj1"/>
              <a:gd fmla="val 0" name="adj2"/>
            </a:avLst>
          </a:prstGeom>
          <a:noFill/>
          <a:ln>
            <a:noFill/>
          </a:ln>
        </p:spPr>
      </p:sp>
      <p:sp>
        <p:nvSpPr>
          <p:cNvPr id="213" name="Google Shape;21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14" name="Google Shape;21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15" name="Google Shape;21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16"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20" name="Google Shape;22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21" name="Google Shape;22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22" name="Google Shape;22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6" name="Google Shape;22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7" name="Google Shape;22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28" name="Google Shape;22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9" name="Google Shape;22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0" name="Google Shape;23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1" name="Google Shape;23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2" name="Google Shape;23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3" name="Google Shape;23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4" name="Google Shape;23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5" name="Google Shape;23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6" name="Google Shape;23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7" name="Google Shape;23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8" name="Google Shape;23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9" name="Google Shape;23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0" name="Google Shape;24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1" name="Google Shape;24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2" name="Google Shape;24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3" name="Google Shape;24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4" name="Google Shape;24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5" name="Google Shape;24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6" name="Google Shape;24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7" name="Google Shape;24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8" name="Google Shape;24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9" name="Google Shape;24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0" name="Google Shape;25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1" name="Google Shape;25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2" name="Google Shape;25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3" name="Google Shape;25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54" name="Shape 254"/>
        <p:cNvGrpSpPr/>
        <p:nvPr/>
      </p:nvGrpSpPr>
      <p:grpSpPr>
        <a:xfrm>
          <a:off x="0" y="0"/>
          <a:ext cx="0" cy="0"/>
          <a:chOff x="0" y="0"/>
          <a:chExt cx="0" cy="0"/>
        </a:xfrm>
      </p:grpSpPr>
      <p:sp>
        <p:nvSpPr>
          <p:cNvPr id="255" name="Google Shape;25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57" name="Google Shape;25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3.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52" name="Google Shape;5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Camera Browser</a:t>
            </a:r>
            <a:endParaRPr/>
          </a:p>
        </p:txBody>
      </p:sp>
      <p:sp>
        <p:nvSpPr>
          <p:cNvPr id="263" name="Google Shape;263;p44"/>
          <p:cNvSpPr txBox="1"/>
          <p:nvPr>
            <p:ph idx="2" type="subTitle"/>
          </p:nvPr>
        </p:nvSpPr>
        <p:spPr>
          <a:xfrm>
            <a:off x="196950" y="2171250"/>
            <a:ext cx="4565100" cy="22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OOAD 16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Khashayar Amirsohrabi, Zhihuang Chen</a:t>
            </a:r>
            <a:endParaRPr/>
          </a:p>
          <a:p>
            <a:pPr indent="0" lvl="0" marL="0" rtl="0" algn="l">
              <a:spcBef>
                <a:spcPts val="0"/>
              </a:spcBef>
              <a:spcAft>
                <a:spcPts val="0"/>
              </a:spcAft>
              <a:buNone/>
            </a:pPr>
            <a:r>
              <a:t/>
            </a:r>
            <a:endParaRPr/>
          </a:p>
        </p:txBody>
      </p:sp>
      <p:pic>
        <p:nvPicPr>
          <p:cNvPr id="264" name="Google Shape;264;p44"/>
          <p:cNvPicPr preferRelativeResize="0"/>
          <p:nvPr/>
        </p:nvPicPr>
        <p:blipFill>
          <a:blip r:embed="rId3">
            <a:alphaModFix/>
          </a:blip>
          <a:stretch>
            <a:fillRect/>
          </a:stretch>
        </p:blipFill>
        <p:spPr>
          <a:xfrm>
            <a:off x="4970714" y="2171250"/>
            <a:ext cx="3856736" cy="2566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5"/>
          <p:cNvSpPr txBox="1"/>
          <p:nvPr>
            <p:ph type="title"/>
          </p:nvPr>
        </p:nvSpPr>
        <p:spPr>
          <a:xfrm>
            <a:off x="197375" y="196450"/>
            <a:ext cx="3743700" cy="58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Details</a:t>
            </a:r>
            <a:endParaRPr/>
          </a:p>
        </p:txBody>
      </p:sp>
      <p:sp>
        <p:nvSpPr>
          <p:cNvPr id="270" name="Google Shape;270;p45"/>
          <p:cNvSpPr txBox="1"/>
          <p:nvPr>
            <p:ph idx="1" type="body"/>
          </p:nvPr>
        </p:nvSpPr>
        <p:spPr>
          <a:xfrm>
            <a:off x="197375" y="777850"/>
            <a:ext cx="8609700" cy="37302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n" sz="1900"/>
              <a:t>At present, many cities have deployed traffic cameras and made them freely accessible to the public. However, due to factors such as operational costs, these cameras only allow real-time viewing (with time limits for viewing), and users cannot view past recordings. Our team aims to build an affordable, retroactive traffic camera video browsing platform for users to watch these videos at any time. Users can view the playback of any camera from the past 72 hours (temporary plan) through our platform.</a:t>
            </a:r>
            <a:endParaRPr sz="1900"/>
          </a:p>
        </p:txBody>
      </p:sp>
      <p:sp>
        <p:nvSpPr>
          <p:cNvPr id="271" name="Google Shape;271;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6"/>
          <p:cNvSpPr txBox="1"/>
          <p:nvPr>
            <p:ph type="title"/>
          </p:nvPr>
        </p:nvSpPr>
        <p:spPr>
          <a:xfrm>
            <a:off x="197375" y="196450"/>
            <a:ext cx="3743700" cy="58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Use Case</a:t>
            </a:r>
            <a:endParaRPr/>
          </a:p>
        </p:txBody>
      </p:sp>
      <p:sp>
        <p:nvSpPr>
          <p:cNvPr id="277" name="Google Shape;27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8" name="Google Shape;278;p46" title="Screenshot 2026-02-11 at 16.00.26.png"/>
          <p:cNvPicPr preferRelativeResize="0"/>
          <p:nvPr/>
        </p:nvPicPr>
        <p:blipFill>
          <a:blip r:embed="rId3">
            <a:alphaModFix/>
          </a:blip>
          <a:stretch>
            <a:fillRect/>
          </a:stretch>
        </p:blipFill>
        <p:spPr>
          <a:xfrm>
            <a:off x="1022850" y="777850"/>
            <a:ext cx="7098301" cy="416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7"/>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Ues Case 1: Register Account</a:t>
            </a:r>
            <a:endParaRPr/>
          </a:p>
        </p:txBody>
      </p:sp>
      <p:pic>
        <p:nvPicPr>
          <p:cNvPr id="285" name="Google Shape;285;p47"/>
          <p:cNvPicPr preferRelativeResize="0"/>
          <p:nvPr/>
        </p:nvPicPr>
        <p:blipFill>
          <a:blip r:embed="rId3">
            <a:alphaModFix/>
          </a:blip>
          <a:stretch>
            <a:fillRect/>
          </a:stretch>
        </p:blipFill>
        <p:spPr>
          <a:xfrm>
            <a:off x="152400" y="1570588"/>
            <a:ext cx="8839201" cy="20023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8"/>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2: Watch Live Traffic Camera</a:t>
            </a:r>
            <a:endParaRPr/>
          </a:p>
        </p:txBody>
      </p:sp>
      <p:pic>
        <p:nvPicPr>
          <p:cNvPr id="292" name="Google Shape;292;p48"/>
          <p:cNvPicPr preferRelativeResize="0"/>
          <p:nvPr/>
        </p:nvPicPr>
        <p:blipFill>
          <a:blip r:embed="rId3">
            <a:alphaModFix/>
          </a:blip>
          <a:stretch>
            <a:fillRect/>
          </a:stretch>
        </p:blipFill>
        <p:spPr>
          <a:xfrm>
            <a:off x="152400" y="1456288"/>
            <a:ext cx="8839200" cy="22309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9"/>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3: Watch Past Playback</a:t>
            </a:r>
            <a:endParaRPr/>
          </a:p>
        </p:txBody>
      </p:sp>
      <p:pic>
        <p:nvPicPr>
          <p:cNvPr id="299" name="Google Shape;299;p49"/>
          <p:cNvPicPr preferRelativeResize="0"/>
          <p:nvPr/>
        </p:nvPicPr>
        <p:blipFill>
          <a:blip r:embed="rId3">
            <a:alphaModFix/>
          </a:blip>
          <a:stretch>
            <a:fillRect/>
          </a:stretch>
        </p:blipFill>
        <p:spPr>
          <a:xfrm>
            <a:off x="152400" y="1523875"/>
            <a:ext cx="8839201" cy="20957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50"/>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4: Add Camera to Favorites</a:t>
            </a:r>
            <a:endParaRPr/>
          </a:p>
        </p:txBody>
      </p:sp>
      <p:pic>
        <p:nvPicPr>
          <p:cNvPr id="306" name="Google Shape;306;p50"/>
          <p:cNvPicPr preferRelativeResize="0"/>
          <p:nvPr/>
        </p:nvPicPr>
        <p:blipFill>
          <a:blip r:embed="rId3">
            <a:alphaModFix/>
          </a:blip>
          <a:stretch>
            <a:fillRect/>
          </a:stretch>
        </p:blipFill>
        <p:spPr>
          <a:xfrm>
            <a:off x="152400" y="1566413"/>
            <a:ext cx="8839199" cy="20106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51"/>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5: View Browsing History</a:t>
            </a:r>
            <a:endParaRPr/>
          </a:p>
        </p:txBody>
      </p:sp>
      <p:pic>
        <p:nvPicPr>
          <p:cNvPr id="313" name="Google Shape;313;p51"/>
          <p:cNvPicPr preferRelativeResize="0"/>
          <p:nvPr/>
        </p:nvPicPr>
        <p:blipFill>
          <a:blip r:embed="rId3">
            <a:alphaModFix/>
          </a:blip>
          <a:stretch>
            <a:fillRect/>
          </a:stretch>
        </p:blipFill>
        <p:spPr>
          <a:xfrm>
            <a:off x="152400" y="1546863"/>
            <a:ext cx="8839202" cy="20497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52"/>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6: Manage Cameras</a:t>
            </a:r>
            <a:endParaRPr/>
          </a:p>
        </p:txBody>
      </p:sp>
      <p:pic>
        <p:nvPicPr>
          <p:cNvPr id="320" name="Google Shape;320;p52"/>
          <p:cNvPicPr preferRelativeResize="0"/>
          <p:nvPr/>
        </p:nvPicPr>
        <p:blipFill>
          <a:blip r:embed="rId3">
            <a:alphaModFix/>
          </a:blip>
          <a:stretch>
            <a:fillRect/>
          </a:stretch>
        </p:blipFill>
        <p:spPr>
          <a:xfrm>
            <a:off x="152400" y="1578825"/>
            <a:ext cx="8839199" cy="19858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3"/>
          <p:cNvSpPr txBox="1"/>
          <p:nvPr>
            <p:ph idx="1" type="subTitle"/>
          </p:nvPr>
        </p:nvSpPr>
        <p:spPr>
          <a:xfrm>
            <a:off x="975300" y="160625"/>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Domain Model</a:t>
            </a:r>
            <a:endParaRPr/>
          </a:p>
        </p:txBody>
      </p:sp>
      <p:pic>
        <p:nvPicPr>
          <p:cNvPr id="326" name="Google Shape;326;p53"/>
          <p:cNvPicPr preferRelativeResize="0"/>
          <p:nvPr/>
        </p:nvPicPr>
        <p:blipFill>
          <a:blip r:embed="rId3">
            <a:alphaModFix/>
          </a:blip>
          <a:stretch>
            <a:fillRect/>
          </a:stretch>
        </p:blipFill>
        <p:spPr>
          <a:xfrm>
            <a:off x="152400" y="857825"/>
            <a:ext cx="8839201" cy="34278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4"/>
          <p:cNvSpPr txBox="1"/>
          <p:nvPr>
            <p:ph type="ctrTitle"/>
          </p:nvPr>
        </p:nvSpPr>
        <p:spPr>
          <a:xfrm>
            <a:off x="566100" y="2053050"/>
            <a:ext cx="8011800" cy="103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